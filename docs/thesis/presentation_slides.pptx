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สวัสดีครับอาจารย์ทุกท่าน วันนี้ผมขอเสนอการสอบป้องกันวิทยานิพนธ์เรื่อง 'ระบบเชี่ยวชาญเพื่อการวินิจฉัยโรคพืชในข้าวและให้คำแนะนำด้วยปัญญาประดิษฐ์' ซึ่งนำเอาโมเดล Vision Transformer สายพันธุ์ล่าสุด คือ RT-DETR-L มาทำงานร่วมกับระบบ Hybrid RAG และเชื่อมต่อสู่เกษตรกรผ่าน LINE Chatbot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สถาปัตยกรรมระบบของเราแบ่งเป็น 4 เลเยอร์หลัก: เริ่มจากเกษตรกรส่งภาพหรือข้อความผ่าน LINE โดยมี n8n ทำหน้าที่แยกประเภทคำขอ ภาพจะถูกส่งเข้า RT-DETR-L บน FastAPI ซึ่งใช้เวลาเพียง 6.8 ms จากนั้นผลการตรวจจับจะถูกส่งต่อไปยัง Hybrid RAG เพื่อดึงแนวทางรักษาที่ถูกต้องตามหลักวิชาการ แล้วส่งกลับหาเกษตรกรภายในเวลารวมเพียง 1.68 วินาทีครับ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จุดเปลี่ยนสำคัญของงานวิจัยนี้คือการใช้กระบวนทัศน์ Data-Centric AI ครับ เดิมทีโรคขอบใบแห้งได้คะแนนต่ำมากเพียง 7.4% เมื่อวิเคราะห์เชิงลึกพบว่าเกิดจาก Annotation Fragmentation ที่ตีกรอบแตกย่อยเกือบ 6,000 กล่อง เมื่อเราแก้ปัญหารวมกล่องตามแผลจริง คะแนนพุ่งขึ้นทันทีถึง 62.1% กลายเป็น 69.5% พิสูจน์ว่าคุณภาพข้อมูลมีความสำคัญกว่าการจูนโมเดลครับ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จากตารางเปรียบเทียบทั้ง 5 เวอร์ชันบน Test Set จะเห็นว่า เวอร์ชัน 1 ถึง 4 ซึ่งปรับแต่งแบบ Model-Centric คะแนนเฉลี่ยจะวนเวียนอยู่ที่ประมาณ 58-60% แต่เมื่อเปลี่ยนเป็น Data-Centric ใน v5 คะแนนรวมกระโดดข้ามเพดานสู่ 70.6% โดยมีความแม่นยำ 73.5% และตรวจจับได้ครอบคลุม 70.2% ในความเร็ว 6.8 ms ต่อภาพครับ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เพื่อตอบคำถามเชิงวิชาการว่าการตัดพื้นหลังแปลงนาจำเป็นหรือไม่ เราได้ทำ Ablation Study โดยตอนแรกโมเดลตัดฉากหลังทั่วไปล้มเหลวเกิดจอดำถึง 43.8% เนื่องจากปรากฏการณ์ Green-on-Green เราจึงพัฒนาการใช้ MobileSAM ร่วมกับ Safety Guardrail 2% จนตัดพื้นหลังได้สำเร็จ 75.14% แล้วนำไปเทรนโมเดลเปรียบเทียบในสภาพแวดล้อมควบคุมเดียวกันครับ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นี่คือข้อค้นพบระดับรางวัลของวิทยานิพนธ์ครับ: เราค้นพบ 'ความไม่สมมาตรทางสัณฐานวิทยา' กล่าวคือ การตัดฉากหลังจะส่งผลดีกับโรคแผลใหญ่ เช่น ใบขอบกาบแห้ง (+11.17%) และขอบใบแห้ง (+5.82%) แต่กลับทำลายความแม่นยำของโรคแผลเล็กอย่างใบจุดสีน้ำตาล (Brown Spot) อย่างรุนแรงถึง -15.19% เพราะแผลจุดขนาด 10 พิกเซลสูญเสียบริบทของแผ่นใบสีเขียวรอบข้าง กลายเป็นจุดลอยบนความมืดสีดำ ทำให้โมเดลคิดว่าเป็น Noise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ในมิติการติดตั้งใช้งานจริง แม้โมเดลตัดฉากหลังจะได้คะแนนรวมมากกว่า 1.44% แต่ต้องแลกมาด้วยความเร็วที่ช้าลง มากกว่า 15 เท่า และเสี่ยงต่อการวินิจฉัยโรคใบจุดสีน้ำตาลผิดพลาด เราจึงตัดสินใจเลือก RT-DETR-L v5 Direct Detection ประจำการในระบบจริง เพราะเร็ว 6.8 ms ประหยัด VRAM และมีความแม่นยำสมดุลครอบคลุมทุกโรคครับ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สำหรับระบบให้คำปรึกษา เราใช้ RAGAS ประเมินผลบนชุดข้อสอบ 70 ข้อ จุดพลิกผันคือในเวอร์ชัน 6 เรานำ PyThaiNLP มาช่วยตัดคำภาษาไทยให้ระบบ BM25 ร่วมกับ Alpha Blending 0.7 ทำให้ Context Recall พุ่งสูงขึ้นเป็น 28.59% และมี Faithfulness สูงถึง 76.5% รับประกันได้ว่าจะไม่มีการแนะนำสารเคมีที่ผิดพลาดครับ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เราได้ทำการเชื่อมต่อระบบจริงเข้ากับ LINE Official Account (@325wtzzd) และทดสอบ Functional Testing ครบทั้ง 8 กรณี ผ่านทั้งหมด 100% ระบบสามารถรับมือกับภาพเบลอ คำถามบอกแค่อาการ หรือคำถามนอกเรื่องได้อย่างถูกต้อง โดยมีเวลารวมตั้งแต่กดส่งรูปจนได้รับคำตอบเพียง 1.68 วินาทีครับ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ในส่วนของการประเมินความพึงพอใจของผู้ใช้งาน เราได้วางกรอบการประเมิน Likert Scale 5 ระดับ ครอบคลุม 5 มิติ ได้แก่ ความง่ายในการใช้ LINE, ความถูกต้องของโมเดล, ความรวดเร็ว, คุณภาพคำแนะนำ และความพึงพอใจรวม โดยจัดทำโครงสร้างตารางไว้ในบทที่ 4 หัวข้อ 4.6 พร้อมนำตัวเลขสำรวจจริงจากเกษตรกร 30 รายมาลงตารางครับ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สำหรับข้อจำกัดและทิศทางในอนาคต ปัจจุบันระบบครอบคลุมโรคหลัก 5 ชนิด ในอนาคตเราสามารถต่อยอดขยายสู่แมลงศัตรูพืช บีบอัดโมเดลด้วย TensorRT INT8 บนบอร์ด Jetson AGX Orin ทำงานร่วมกับโดรนหรือกล้องเสาแปลงนา และพัฒนา Offline LLM สำหรับพื้นที่ไร้สัญญาณอินเทอร์เน็ตครับ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สรุปผลงานวิจัยนี้ เราไม่เพียงแต่สร้างโมเดลตรวจจับโรคข้าวที่แม่นยำและรวดเร็วที่สุดในโครงการ แต่ยังได้องค์ความรู้ใหม่ทางวิชาการเกี่ยวกับการตัดฉากหลังภาพโรคพืช และที่สำคัญที่สุดคือระบบนี้พร้อมนำไปใช้งานจริง เพื่อช่วยเหลือพี่น้องเกษตรกรไทยได้ทันทีครับ ผมขอจบการนำเสนอเพียงเท่านี้ ขอบพระคุณอาจารย์ทุกท่าน และพร้อมรับคำแนะนำครับ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3840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วิทยานิพนธ์ระดับปริญญาโท (Master's Thesis Defense)</a:t>
            </a:r>
          </a:p>
          <a:p>
            <a:pPr>
              <a:spcBef>
                <a:spcPts val="1400"/>
              </a:spcBef>
              <a:defRPr sz="3200" b="1">
                <a:solidFill>
                  <a:srgbClr val="F8FAFC"/>
                </a:solidFill>
              </a:defRPr>
            </a:pPr>
            <a:r>
              <a:t>ระบบเชี่ยวชาญเพื่อการวินิจฉัยโรคพืชในข้าว</a:t>
            </a:r>
            <a:br/>
            <a:r>
              <a:t>และให้คำแนะนำด้วยปัญญาประดิษฐ์</a:t>
            </a:r>
          </a:p>
          <a:p>
            <a:pPr>
              <a:spcBef>
                <a:spcPts val="1200"/>
              </a:spcBef>
              <a:defRPr sz="1500">
                <a:solidFill>
                  <a:srgbClr val="94A3B8"/>
                </a:solidFill>
              </a:defRPr>
            </a:pPr>
            <a:r>
              <a:t>Rice Leaf Disease AI Diagnosis &amp; Treatment Consultation System via LINE Chatbot</a:t>
            </a:r>
            <a:br/>
            <a:r>
              <a:t>Powered by RT-DETR-L, Hybrid RAG, and NVIDIA Jetson AGX Orin</a:t>
            </a:r>
          </a:p>
          <a:p>
            <a:pPr>
              <a:spcBef>
                <a:spcPts val="2400"/>
              </a:spcBef>
              <a:defRPr sz="1300">
                <a:solidFill>
                  <a:srgbClr val="10B981"/>
                </a:solidFill>
              </a:defRPr>
            </a:pPr>
            <a:r>
              <a:t>ผู้จัดทำ: นายอัศวิน (atsawin) | แพลตฟอร์ม: LINE Official Account (@325wtzzd)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สถาปัตยกรรมระบบรวม (End-to-End System Architecture)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1. User Interface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LINE Official Account</a:t>
            </a:r>
            <a:br/>
            <a:r>
              <a:t>(@325wtzzd)</a:t>
            </a:r>
            <a:br/>
            <a:br/>
            <a:r>
              <a:t>• รับภาพถ่ายใบข้าว</a:t>
            </a:r>
            <a:br/>
            <a:r>
              <a:t>• รับข้อความซักถาม</a:t>
            </a:r>
            <a:br/>
            <a:r>
              <a:t>• ตอบกลับแบบ Flex Message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3736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2. Orchestration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n8n Workflow Router</a:t>
            </a:r>
            <a:br/>
            <a:r>
              <a:t>(Docker on Cloud/Local)</a:t>
            </a:r>
            <a:br/>
            <a:br/>
            <a:r>
              <a:t>• สวิตช์แยก Image / Text</a:t>
            </a:r>
            <a:br/>
            <a:r>
              <a:t>• ควบคุม Timeout</a:t>
            </a:r>
            <a:br/>
            <a:r>
              <a:t>• ส่งต่อคำขอเข้าสู่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3. Vision Engine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RT-DETR-L v5</a:t>
            </a:r>
            <a:br/>
            <a:r>
              <a:t>(FastAPI / TensorRT)</a:t>
            </a:r>
            <a:br/>
            <a:br/>
            <a:r>
              <a:t>• ตรวจจับ 5 โรคข้าว</a:t>
            </a:r>
            <a:br/>
            <a:r>
              <a:t>• mAP@0.5 = 70.6%</a:t>
            </a:r>
            <a:br/>
            <a:r>
              <a:t>• ประมวลผลเร็ว 6.8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73736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4. Knowledge Engine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Hybrid RAG Engine</a:t>
            </a:r>
            <a:br/>
            <a:r>
              <a:t>(Pinecone + Gemini)</a:t>
            </a:r>
            <a:br/>
            <a:br/>
            <a:r>
              <a:t>• Dense 70% + Sparse 30%</a:t>
            </a:r>
            <a:br/>
            <a:r>
              <a:t>• อ้างอิงกรมการข้าว</a:t>
            </a:r>
            <a:br/>
            <a:r>
              <a:t>• ไม่เกิด Hallucination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DATASET &amp; ANNOTATION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ชุดข้อมูลและการแก้ปัญหาแบบ Data-Centric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ปัญหาคอขวดเดิม (Bottleneck Analysis)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ปัญหา Annotation Fragmentation ในโรคขอบใบแห้ง (BLB)</a:t>
            </a:r>
            <a:br/>
            <a:r>
              <a:t>• แผลขอบใบยาวแผลเดียวถูกตีกรอบแตกย่อยเป็น 5,922 กล่อง!</a:t>
            </a:r>
            <a:br/>
            <a:r>
              <a:t>• โมเดลสับสนระหว่างขอบแผลกับกึ่งกลางแผล เกิด False Positive ต่อเนื่อง</a:t>
            </a:r>
            <a:br/>
            <a:r>
              <a:t>• ส่งผลให้คะแนน mAP@0.5 ของ BLB จมปลักอยู่ที่เพียง 7.42%</a:t>
            </a:r>
            <a:br/>
            <a:r>
              <a:t>• แม้พยายามปรับแต่งโมเดล (Model-Centric) 4 รอบ ก็ไม่ดีขึ้น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การปฏิวัติด้วย Data-Centric AI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ทำความสะอาดและยุบรวม Bounding Box ตามสัณฐานวิทยาจริง</a:t>
            </a:r>
            <a:br/>
            <a:r>
              <a:t>• รวมกรอบรอยโรคต่อเนื่อง (Continuous Morphological Bbox)</a:t>
            </a:r>
            <a:br/>
            <a:r>
              <a:t>• ลดจำนวนกล่องที่ซ้ำซ้อนจาก 5,922 กล่อง เหลือ 1,863 กล่อง (-68.5%)</a:t>
            </a:r>
            <a:br/>
            <a:r>
              <a:t>• ผลลัพธ์: คะแนน BLB พุ่งขึ้นจาก 7.42% สู่ 69.50% (+62.1% !!)</a:t>
            </a:r>
            <a:br/>
            <a:r>
              <a:t>• ข้อพิสูจน์: คุณภาพฉลากข้อมูลกำหนดเพดานความฉลาดของ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MODEL EVOLUTION &amp;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วิวัฒนาการและการประเมินโมเดล RT-DETR-L (v1 ถึง v5)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ตัวชี้วัด / คลาส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v1 Baseline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v2 Tuned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v3 Morph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v4 Hi-Res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v5 Data-Centric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mAP@0.5 รวมทุกโรค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59.3%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58.3%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60.2%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60.5%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70.6% (+10.1%)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mAP@0.5:0.95 รวม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30.8%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29.5%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29.6%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29.4%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35.5% (+6.1%)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Precision รวม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56.5%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58.5%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57.7%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58.1%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73.5% (+15.4%)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Recall รวม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60.9%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60.5%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61.9%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61.3%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70.2% (+8.9%)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Bacterial Leaf Blight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10.5%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7.7%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7.1%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7.42%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69.5% (+62.1%)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Inference Speed (RTX 4090)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4.8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4.8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4.8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7.2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6.8 ms (~147 FPS)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RESEARCH HYPOTHESIS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การทดลองศึกษาการตัดพื้นหลัง (Ablation Study on Background)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1. สมมติฐานและปัญหาเบื้องต้น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คำถามวิจัย: การตัดฉากหลังแปลงนาออก จะช่วยให้โมเดลเก่งขึ้นจริงหรือไม่?</a:t>
            </a:r>
            <a:br/>
            <a:br/>
            <a:r>
              <a:t>• ความล้มเหลวของวิธีทั่วไป (Salient Object Detection / U-2-Net):</a:t>
            </a:r>
            <a:br/>
            <a:r>
              <a:t>   - ภาพกลายเป็นจอดำสนิทถึง 43.8% (155/354 ภาพ)!</a:t>
            </a:r>
            <a:br/>
            <a:r>
              <a:t>   - สาเหตุ: Green-on-Green (ใบเขียวกลืนกับนา) และ Edge-to-Edge Macro (ใบข้าวพาดขวางจอ ไม่มีโครงร่างปิดล้อม AI ตีความเป็นฉากหลังทิ้งหมด)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2. วิธีแก้ปัญหาด้วย Foundation Model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พัฒนาสถาปัตยกรรม Meta MobileSAM ร่วมกับ Bbox Prompting</a:t>
            </a:r>
            <a:br/>
            <a:br/>
            <a:r>
              <a:t>• นวัตกรรม Enclosing Bbox + Adaptive Safety Guardrail (2%):</a:t>
            </a:r>
            <a:br/>
            <a:r>
              <a:t>   - ดึงกรอบรวมของรอยโรคเพื่อนำทาง SAM ให้ตัดเนื้อใบไม้ทั้งใบ</a:t>
            </a:r>
            <a:br/>
            <a:r>
              <a:t>   - ตรวจจับอัตราส่วนใบไม้ ถ้าเหลือ &lt; 2% ให้ Fallback กลับภาพเดิม</a:t>
            </a:r>
            <a:br/>
            <a:r>
              <a:t>   - ผลลัพธ์: ตัดพื้นหลังสำเร็จ 75.14% และ Fallback ปลอดภัย 24.86%</a:t>
            </a:r>
            <a:br/>
            <a:r>
              <a:t>   - เทรน RT-DETR บน RTX 4090 93 Epochs (3.45 ชม.)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KEY THESIS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ข้อค้นพบสำคัญ: ความไม่สมมาตรทางสัณฐานวิทยา (Morphological Asymmetry)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ชนิดโรคข้าว (Disease Class)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Champion v5 (Direct)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Segmented 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ผลต่าง (Difference)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1. Bacterial Leaf Blight (ขอบใบแห้ง)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69.50%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75.32%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+5.82% (แผลใหญ่ คอนทราสต์ดีขึ้น)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2. Brown Spot (ใบจุดสีน้ำตาล)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79.90%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64.71%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43F5E"/>
                          </a:solidFill>
                        </a:defRPr>
                      </a:pPr>
                      <a:r>
                        <a:t>-15.19% (แผลเล็กจิ๋ว พังทลายรุนแรง!)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3. Leaf Blast (ใบไหม้)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77.60%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78.59%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+0.99% (แผลกระสวย รักษาเสถียรภาพ)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4. Leaf Scald (ใบขอบกาบแห้ง)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54.50%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65.67%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+11.17% (ริ้วคลื่นขอบใบเด่นชัดมาก)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5. Sheath Blight (กาบใบแห้ง)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71.30%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75.73%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+4.43% (กาบใบตัดขอบง่ายขึ้น)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OVERALL mAP@0.5 เฉลี่ยรวม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70.56%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72.00%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+1.44% (สูงขึ้นจาก BLB/Scald แต่เสี่ยง Brown Spot)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ENGINEERING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การตัดสินใจเชิงวิศวกรรมระบบสู่การใช้งานจริง (Production Choice)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เกณฑ์การตัดสินใจ (Criteria)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Pipeline (SAM + RT-DETR)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Direct Detection (Champion v5)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เหตุผลเชิงวิศวกรรม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เวลาประมวลผล (GPU RTX 4090)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25–35 ms (คอขวดที่ SAM)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6.8 ms (~147 FPS)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Direct Detection เร็วกว่า 4-5 เท่า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เวลาประมวลผล (Edge Jetson)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&gt; 120–170 ms (ช้าเกินไป)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~18–22 ms (~50 FPS)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Direct Detection ตอบสนอง Real-time ได้จริง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การใช้หน่วยความจำ VRAM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สูงมาก (&gt; 2.8 GB ต้องรัน 2 โมเดล)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ต่ำมาก (~1.2 GB โมเดลเดียว)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ประหยัดทรัพยากรบน Edge Device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ความเสถียรและความแม่นยำ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Brown Spot ร่วงเหลือ 64.71%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Brown Spot แม่นยำสูง 79.90%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เลือก v5 เป็น Champion ใน Production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KNOWLEDGE RETRIEVAL &amp; HALLUCINATION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ผลการพัฒนาระบบสืบค้นความรู้ Hybrid RAG (RAGAS Benchmark)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ตัวชี้วัด RAGAS (70 ข้อสอบ)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V1 (Dense Baseline)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V4 (Hybrid เก่า)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V6 (Perfect Hybrid)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4D399"/>
                          </a:solidFill>
                        </a:defRPr>
                      </a:pPr>
                      <a:r>
                        <a:t>ความหมายเชิงวิชาการ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Context Recall (ความครบถ้วน)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19.9%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28.59% (+8.69%)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ดึงเนื้อหาวิธีรักษาครบขึ้นเกือบ 50%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Context Precision (ความตรงเป้า)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42.1%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49.2%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51.05% (+1.85%)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เอกสารที่ถูกต้องติด Top 1–2 เสมอ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Faithfulness (ความซื่อสัตย์)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71.0%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78.5%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76.50%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ตอบตรงตามเอกสารกรมการข้าว ไม่หลอนข้อมูล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Answer Relevancy (ตรงคำถาม)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52.4%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59.1%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56.85%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คำตอบกระชับ ตรงตามเจตนาเกษตรกร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DEPLOYMENT &amp; FIELD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การเชื่อมต่อระบบจริงและการทดสอบ Functional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การตรวจจับรอยโรค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ตรวจจับโรคชัดเจน: PASS</a:t>
            </a:r>
            <a:br/>
            <a:r>
              <a:t>• แผลขนาดเล็ก: PASS</a:t>
            </a:r>
            <a:br/>
            <a:r>
              <a:t>• ภาพใบสมบูรณ์ (Negative): PASS</a:t>
            </a:r>
            <a:br/>
            <a:r>
              <a:t>• ภาพเบลอจัด: แจ้งเตือนถ่ายใหม่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การสืบค้นและตอบคำถาม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ถามวิธีรักษาตรงๆ: PASS</a:t>
            </a:r>
            <a:br/>
            <a:r>
              <a:t>• บอกแค่อาการไม่บอกชื่อ: PASS</a:t>
            </a:r>
            <a:br/>
            <a:r>
              <a:t>• คำถามนอกเรื่อง (ปลูกทุเรียน): ปฏิเสธสุภาพ</a:t>
            </a:r>
            <a:br/>
            <a:r>
              <a:t>• ข้อความทักทาย: แนะนำเมนูถูกต้อง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7373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ประสิทธิภาพเวลา (Latency)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AI Inference: 6.8 ms</a:t>
            </a:r>
            <a:br/>
            <a:r>
              <a:t>• Vector Search: 45.2 ms</a:t>
            </a:r>
            <a:br/>
            <a:r>
              <a:t>• LLM Generation: 1.12 s</a:t>
            </a:r>
            <a:br/>
            <a:r>
              <a:t>• End-to-End รวม: 1.68 วินาที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USER 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โครงสร้างการประเมินความพึงพอใจของผู้ใช้งาน (User Acceptance Testing)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ระเบียบวิธีและโครงสร้างแบบประเมิน Likert Scale 5 ระดับ (กลุ่มตัวอย่าง N = 30 ราย)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1. ด้านความสะดวกในการใช้งานผ่าน LINE (Usability): ความง่ายในการส่งภาพและอ่านคำตอบ</a:t>
            </a:r>
            <a:br/>
            <a:r>
              <a:t>2. ด้านความถูกต้องแม่นยำในการระบุโรค (Accuracy): การตีกรอบรอยโรคและจำแนกคลาส</a:t>
            </a:r>
            <a:br/>
            <a:r>
              <a:t>3. ด้านความรวดเร็วในการประมวลผล (Response Time): ความเร็วในการส่งข้อความตอบกลับ (&lt; 2 วินาที)</a:t>
            </a:r>
            <a:br/>
            <a:r>
              <a:t>4. ด้านประโยชน์และความน่าเชื่อถือของคำแนะนำ (Content Quality): สารเคมี อัตราผสม และวิธีป้องกัน</a:t>
            </a:r>
            <a:br/>
            <a:r>
              <a:t>5. ด้านความพึงพอใจในภาพรวมต่อการนำไปใช้งานในแปลงนาจริง (Overall Practical Adoption)</a:t>
            </a:r>
            <a:br/>
            <a:br/>
            <a:r>
              <a:t>สถานะ: จัดทำโครงสร้างตารางและเกณฑ์ทางสถิติ (Mean, S.D.) ในบทที่ 4 หัวข้อ 4.6 เรียบร้อยแล้ว พร้อมบรรจุตัวเลขสำรวจจริงภาคสนาม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ข้อจำกัดและทิศทางการพัฒนาต่อยอดในอนาคต (Future Roadmap)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ข้อจำกัดของงานวิจัยในปัจจุบัน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ครอบคลุมโรคข้าวสำคัญ 5 ชนิด (ยังไม่ครอบคลุมกลุ่มไวรัส เช่น โรคใบสีส้ม/Tungro หรือศัตรูพืช)</a:t>
            </a:r>
            <a:br/>
            <a:r>
              <a:t>• การทำงานส่วน RAG และ LLM บนคลาวด์ยังต้องพึ่งพาการเชื่อมต่ออินเทอร์เน็ต</a:t>
            </a:r>
            <a:br/>
            <a:r>
              <a:t>• สภาพแสงแปรปรวนจัด (กลางคืน/แสงสะท้อนน้ำจัด) อาจส่งผลต่อ Confidence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ทิศทางการพัฒนาต่อยอดในอนาคต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Edge AI Quantization: แปลง TensorRT INT8 บน NVIDIA Jetson AGX Orin เพิ่มความเร็วและประหยัดพลังงาน</a:t>
            </a:r>
            <a:br/>
            <a:r>
              <a:t>• Drone &amp; Pole Camera: เชื่อมต่อกล้องเสาแปลงนาและโดรนเกษตร ตรวจจับโรคอัตโนมัติแบบกว้าง</a:t>
            </a:r>
            <a:br/>
            <a:r>
              <a:t>• Offline Edge-LLM: พัฒนาโมเดลภาษาขนาดเล็ก (SLM) รันบนเครื่องในพื้นที่ไร้สัญญาณ</a:t>
            </a:r>
            <a:br/>
            <a:r>
              <a:t>• Active Learning: ปุ่ม Feedback บน LINE ให้เกษตรกรส่งภาพผิดมา Retrain ต่อเนื่อง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3840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บทสรุปคุณค่าของวิทยานิพนธ์ (Summary of Contributions)</a:t>
            </a:r>
          </a:p>
          <a:p>
            <a:pPr>
              <a:spcBef>
                <a:spcPts val="1000"/>
              </a:spcBef>
              <a:defRPr sz="3600" b="1">
                <a:solidFill>
                  <a:srgbClr val="F8FAFC"/>
                </a:solidFill>
              </a:defRPr>
            </a:pPr>
            <a:r>
              <a:t>พร้อมรับข้อซักถามและคำแนะนำ (Q&amp;A)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1. ด้านโมเดล AI: พัฒนา RT-DETR-L v5 ทำสถิติสูงสุด mAP50 = 70.6% เร็ว 6.8 ms</a:t>
            </a:r>
            <a:br/>
            <a:r>
              <a:t>2. ด้านวิทยาการพืช: ค้นพบปรากฏการณ์ความไม่สมมาตรทางสัณฐานวิทยา (Morphological Asymmetry)</a:t>
            </a:r>
            <a:br/>
            <a:r>
              <a:t>3. ด้านระบบ RAG: พัฒนา Hybrid RAG V6 ภาษาไทย ความซื่อสัตย์ 76.5% ไร้ Hallucination</a:t>
            </a:r>
            <a:br/>
            <a:r>
              <a:t>4. ด้านสังคมและเกษตรกรรม: ส่งมอบระบบใช้งานได้จริงผ่าน LINE Official Account (@325wtzzd)</a:t>
            </a:r>
          </a:p>
          <a:p>
            <a:pPr>
              <a:spcBef>
                <a:spcPts val="2000"/>
              </a:spcBef>
              <a:defRPr sz="1500" b="1">
                <a:solidFill>
                  <a:srgbClr val="10B981"/>
                </a:solidFill>
              </a:defRPr>
            </a:pPr>
            <a:r>
              <a:t>ขอขอบพระคุณคณะกรรมการทุกท่านเป็นอย่างสูงครับ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